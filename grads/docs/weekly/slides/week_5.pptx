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d7e652a0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bd7e652a0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bd7e652a0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90BBE3"/>
            </a:gs>
            <a:gs pos="100000">
              <a:srgbClr val="397BB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52550" y="32011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UX/UI: Instant Flight Search       By</a:t>
            </a: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: Zackary Siddiqi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search screen — real results returned from SerpApi (Google Flights)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965960" y="3291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9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B7495"/>
                </a:solidFill>
                <a:latin typeface="Calibri"/>
                <a:ea typeface="Calibri"/>
                <a:cs typeface="Calibri"/>
                <a:sym typeface="Calibri"/>
              </a:rPr>
              <a:t>[ Insert screenshot here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965960" y="3794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0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0AA"/>
                </a:solidFill>
                <a:latin typeface="Calibri"/>
                <a:ea typeface="Calibri"/>
                <a:cs typeface="Calibri"/>
                <a:sym typeface="Calibri"/>
              </a:rPr>
              <a:t>Main page — origin, destination, and date fields, with a live list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0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0AA"/>
                </a:solidFill>
                <a:latin typeface="Calibri"/>
                <a:ea typeface="Calibri"/>
                <a:cs typeface="Calibri"/>
                <a:sym typeface="Calibri"/>
              </a:rPr>
              <a:t>flight results (airline, price, duration, stops) returned from SerpApi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57200" y="6172200"/>
            <a:ext cx="11247120" cy="502920"/>
          </a:xfrm>
          <a:prstGeom prst="roundRect">
            <a:avLst>
              <a:gd fmla="val 1454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85800" y="617220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Confirms: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input → FastAPI → SerpApi → rendered results — works end to end with real flight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4" title="Screenshot_20260922_0038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950" y="1280150"/>
            <a:ext cx="7775288" cy="476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90BBE3"/>
            </a:gs>
            <a:gs pos="100000">
              <a:srgbClr val="397BB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Core Logic: How a Search Becomes Real Flight 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48640" y="109728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2735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640080" y="10972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User submits form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(origin, destination, date)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2148840" y="173736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15"/>
          <p:cNvSpPr/>
          <p:nvPr/>
        </p:nvSpPr>
        <p:spPr>
          <a:xfrm>
            <a:off x="548640" y="196596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2735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640080" y="19659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Frontend sends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/search/flights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2148840" y="260604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15"/>
          <p:cNvSpPr/>
          <p:nvPr/>
        </p:nvSpPr>
        <p:spPr>
          <a:xfrm>
            <a:off x="548640" y="283464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640080" y="283464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Backend validates input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15"/>
          <p:cNvCxnSpPr/>
          <p:nvPr/>
        </p:nvCxnSpPr>
        <p:spPr>
          <a:xfrm>
            <a:off x="2148840" y="34747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p15"/>
          <p:cNvSpPr/>
          <p:nvPr/>
        </p:nvSpPr>
        <p:spPr>
          <a:xfrm>
            <a:off x="548640" y="370332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640080" y="37033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Backend builds SerpApi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 parameters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15"/>
          <p:cNvCxnSpPr/>
          <p:nvPr/>
        </p:nvCxnSpPr>
        <p:spPr>
          <a:xfrm>
            <a:off x="2148840" y="434340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15"/>
          <p:cNvSpPr/>
          <p:nvPr/>
        </p:nvSpPr>
        <p:spPr>
          <a:xfrm>
            <a:off x="548640" y="457200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640080" y="45720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Backend calls SerpApi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(Google Flights engine)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3749040" y="489204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15"/>
          <p:cNvSpPr/>
          <p:nvPr/>
        </p:nvSpPr>
        <p:spPr>
          <a:xfrm>
            <a:off x="4572000" y="457200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D98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4663440" y="45720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Parse raw JSON →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 price, airline, times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5"/>
          <p:cNvCxnSpPr>
            <a:stCxn id="89" idx="0"/>
            <a:endCxn id="91" idx="2"/>
          </p:cNvCxnSpPr>
          <p:nvPr/>
        </p:nvCxnSpPr>
        <p:spPr>
          <a:xfrm rot="10800000">
            <a:off x="6172200" y="3063300"/>
            <a:ext cx="0" cy="15087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15"/>
          <p:cNvSpPr/>
          <p:nvPr/>
        </p:nvSpPr>
        <p:spPr>
          <a:xfrm>
            <a:off x="4572000" y="242316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D98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4663440" y="24231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Return list of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FlightResult objects (JSON)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5"/>
          <p:cNvCxnSpPr>
            <a:stCxn id="91" idx="0"/>
            <a:endCxn id="94" idx="2"/>
          </p:cNvCxnSpPr>
          <p:nvPr/>
        </p:nvCxnSpPr>
        <p:spPr>
          <a:xfrm rot="10800000">
            <a:off x="6172200" y="1737360"/>
            <a:ext cx="0" cy="6858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15"/>
          <p:cNvSpPr/>
          <p:nvPr/>
        </p:nvSpPr>
        <p:spPr>
          <a:xfrm>
            <a:off x="4572000" y="109728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5C6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4663440" y="10972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Frontend receives JSON,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updates state, renders cards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8321040" y="1097280"/>
            <a:ext cx="3383280" cy="4114800"/>
          </a:xfrm>
          <a:prstGeom prst="roundRect">
            <a:avLst>
              <a:gd fmla="val 2703" name="adj"/>
            </a:avLst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8549640" y="12344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ideas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8549640" y="1645920"/>
            <a:ext cx="29260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Client-server split: frontend never talks to SerpApi directly — only the backend holds the API key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One request = one exact search (no date range yet, that's Phase 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Steps 3–6 are all in one FastAPI endpoint function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Errors (bad input, SerpApi failure, zero results) are handled at each step, not just the happy path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90BBE3"/>
            </a:gs>
            <a:gs pos="100000">
              <a:srgbClr val="397BB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457200" y="36576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Project Outline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TripAlert: instant flight search using SerpApi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57200" y="1431325"/>
            <a:ext cx="10499100" cy="4512300"/>
          </a:xfrm>
          <a:prstGeom prst="roundRect">
            <a:avLst>
              <a:gd fmla="val 2041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Phase Status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685800" y="2011675"/>
            <a:ext cx="9477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Phase 0 — Environment &amp; scaffold: </a:t>
            </a:r>
            <a:r>
              <a:rPr b="1" i="0" lang="en-US" sz="2050" u="none" cap="none" strike="noStrike">
                <a:solidFill>
                  <a:srgbClr val="4C7A5A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Phase 1 — SerpApi integration: </a:t>
            </a:r>
            <a:r>
              <a:rPr b="1" i="0" lang="en-US" sz="2050" u="none" cap="none" strike="noStrike">
                <a:solidFill>
                  <a:srgbClr val="D98E3F"/>
                </a:solidFill>
                <a:latin typeface="Calibri"/>
                <a:ea typeface="Calibri"/>
                <a:cs typeface="Calibri"/>
                <a:sym typeface="Calibri"/>
              </a:rPr>
              <a:t>in progress (this week's goal)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  • Backend endpoint calling SerpApi: written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  • Frontend form + results display: written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  • Live end-to-end test with real key: next step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Phase 2 — Flexible dates + hotels: </a:t>
            </a:r>
            <a:r>
              <a:rPr b="0" i="0" lang="en-US" sz="205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started</a:t>
            </a:r>
            <a:endParaRPr b="0" i="0" sz="20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Phase 3 — Accounts + </a:t>
            </a:r>
            <a:r>
              <a:rPr b="1" lang="en-US" sz="205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group function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446520" y="2011680"/>
            <a:ext cx="5029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eople hiking on trail to snowcapped mountains (Provided by Getty Images)"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4425" y="2875000"/>
            <a:ext cx="3913001" cy="293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90BBE3"/>
            </a:gs>
            <a:gs pos="100000">
              <a:srgbClr val="397BB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 and tasks Ahead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15650" y="130588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How to handle input error</a:t>
            </a:r>
            <a:endParaRPr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>
                <a:solidFill>
                  <a:schemeClr val="dk1"/>
                </a:solidFill>
              </a:rPr>
              <a:t>making sure users are not able to search for flights that have already passed</a:t>
            </a:r>
            <a:endParaRPr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>
                <a:solidFill>
                  <a:schemeClr val="dk1"/>
                </a:solidFill>
              </a:rPr>
              <a:t>if the user types in an invalid airport code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How to actually build the flexible date range feature</a:t>
            </a:r>
            <a:endParaRPr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>
                <a:solidFill>
                  <a:schemeClr val="dk1"/>
                </a:solidFill>
              </a:rPr>
              <a:t>User picks a date range for their trip and </a:t>
            </a:r>
            <a:r>
              <a:rPr lang="en-US">
                <a:solidFill>
                  <a:schemeClr val="dk1"/>
                </a:solidFill>
              </a:rPr>
              <a:t>receives</a:t>
            </a:r>
            <a:r>
              <a:rPr lang="en-US">
                <a:solidFill>
                  <a:schemeClr val="dk1"/>
                </a:solidFill>
              </a:rPr>
              <a:t> multiple flight and hotel options to choose from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Need to add a return date as well on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>
                <a:solidFill>
                  <a:schemeClr val="dk1"/>
                </a:solidFill>
              </a:rPr>
              <a:t>on the current </a:t>
            </a:r>
            <a:r>
              <a:rPr lang="en-US">
                <a:solidFill>
                  <a:schemeClr val="dk1"/>
                </a:solidFill>
              </a:rPr>
              <a:t>frontend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800" y="3525550"/>
            <a:ext cx="5807701" cy="32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