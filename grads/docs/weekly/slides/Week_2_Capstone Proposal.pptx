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ooking.com" TargetMode="External"/><Relationship Id="rId4" Type="http://schemas.openxmlformats.org/officeDocument/2006/relationships/image" Target="../media/image3.gif"/><Relationship Id="rId5" Type="http://schemas.openxmlformats.org/officeDocument/2006/relationships/image" Target="../media/image4.gif"/><Relationship Id="rId6" Type="http://schemas.openxmlformats.org/officeDocument/2006/relationships/image" Target="../media/image1.jpg"/><Relationship Id="rId7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0BBE3"/>
            </a:gs>
            <a:gs pos="100000">
              <a:srgbClr val="397BB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57200" y="365750"/>
            <a:ext cx="216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TripAlert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31925" y="960125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Flexible flight + accommodation search with budget price alerts</a:t>
            </a:r>
            <a:endParaRPr b="0" i="0" sz="16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691640"/>
            <a:ext cx="5212080" cy="4480560"/>
          </a:xfrm>
          <a:prstGeom prst="roundRect">
            <a:avLst>
              <a:gd fmla="val 2449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731520" y="187452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2468880"/>
            <a:ext cx="4663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Most </a:t>
            </a: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Budget travelers have a budget and a date window/period, not fixed dates. (e</a:t>
            </a: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x. solo backpackers)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Flight and hotel sites require exact dates — checking every combo by hand wastes hours. (using </a:t>
            </a:r>
            <a:r>
              <a:rPr b="0" i="0" lang="en-US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booking.com</a:t>
            </a: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, google flights, etc.)</a:t>
            </a:r>
            <a:endParaRPr sz="15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Solution: Create a </a:t>
            </a: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tool that combines flexible flights + </a:t>
            </a: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accommodation</a:t>
            </a: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searches</a:t>
            </a:r>
            <a:r>
              <a:rPr b="0" i="0" lang="en-US" sz="15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 into one budget-driven alert/notification system.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989320" y="187452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It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989320" y="2514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598932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6629400" y="249631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Set budget, region &amp; flexible date window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6240780" y="301752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5989320" y="35204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5989320" y="3520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6629400" y="350215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System scans flight + hotel APIs across dates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6240780" y="402336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5989320" y="45262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5989320" y="4526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6629400" y="450799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Combines results into total trip cost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/>
          <p:nvPr/>
        </p:nvCxnSpPr>
        <p:spPr>
          <a:xfrm>
            <a:off x="6240780" y="502920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5989320" y="553212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5989320" y="5532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6629400" y="551383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Alerts you the moment a match is under budget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ighest peak in Germany (Provided by Tenor)" id="37" name="Google Shape;3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081" y="57750"/>
            <a:ext cx="3125139" cy="1706900"/>
          </a:xfrm>
          <a:prstGeom prst="rect">
            <a:avLst/>
          </a:prstGeom>
          <a:noFill/>
          <a:ln cap="flat" cmpd="sng" w="38100">
            <a:solidFill>
              <a:srgbClr val="2D3E8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cartoon drawing of a man in a green hat standing in a mountain valley (Provided by Tenor)" id="38" name="Google Shape;38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45600" y="57744"/>
            <a:ext cx="3125150" cy="1757113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ircraft solid icon, transport concept, flying plane sign on white background, airplane silhouette icon in glyph style for mobile concept and web design. Vector graphics. (Provided by Getty Images)" id="39" name="Google Shape;3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41000" y="2104625"/>
            <a:ext cx="1601551" cy="1601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illustration of a hotel with palm trees in front (Provided by Tenor)" id="40" name="Google Shape;40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58275" y="3739175"/>
            <a:ext cx="1757100" cy="175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/>
        </p:nvSpPr>
        <p:spPr>
          <a:xfrm>
            <a:off x="2923788" y="570125"/>
            <a:ext cx="248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73572"/>
                </a:solidFill>
                <a:latin typeface="Cambria"/>
                <a:ea typeface="Cambria"/>
                <a:cs typeface="Cambria"/>
                <a:sym typeface="Cambria"/>
              </a:rPr>
              <a:t>By: Zack Siddiqi</a:t>
            </a:r>
            <a:endParaRPr b="1">
              <a:solidFill>
                <a:srgbClr val="27357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6596688" y="2843800"/>
            <a:ext cx="3188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Ex: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($3000, Swiss Alps, All of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February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0BBE3"/>
            </a:gs>
            <a:gs pos="100000">
              <a:srgbClr val="397BB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Roadmap: Milestones &amp; Major Sprints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16-week semester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4"/>
          <p:cNvCxnSpPr/>
          <p:nvPr/>
        </p:nvCxnSpPr>
        <p:spPr>
          <a:xfrm>
            <a:off x="1440180" y="1600200"/>
            <a:ext cx="960120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4"/>
          <p:cNvSpPr/>
          <p:nvPr/>
        </p:nvSpPr>
        <p:spPr>
          <a:xfrm>
            <a:off x="1357884" y="1517904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8640" y="1920240"/>
            <a:ext cx="1783080" cy="3566160"/>
          </a:xfrm>
          <a:prstGeom prst="roundRect">
            <a:avLst>
              <a:gd fmla="val 5128" name="adj"/>
            </a:avLst>
          </a:prstGeom>
          <a:solidFill>
            <a:srgbClr val="2735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658368" y="208483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Wk 1-2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658368" y="2423160"/>
            <a:ext cx="15636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Brainstorming</a:t>
            </a: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+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Foundations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658368" y="3291840"/>
            <a:ext cx="15636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APIs secured, stack set, schema &amp; </a:t>
            </a: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UML/Diagrams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278124" y="1517904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468880" y="1920240"/>
            <a:ext cx="1783080" cy="3566160"/>
          </a:xfrm>
          <a:prstGeom prst="roundRect">
            <a:avLst>
              <a:gd fmla="val 5128" name="adj"/>
            </a:avLst>
          </a:prstGeom>
          <a:solidFill>
            <a:srgbClr val="2D3E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2578608" y="208483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Wk 3-5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578608" y="2423160"/>
            <a:ext cx="15636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Flight Searc</a:t>
            </a: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 Portion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2578608" y="3291840"/>
            <a:ext cx="15636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Flexible-date flight search, live results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198364" y="1517904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389120" y="1920240"/>
            <a:ext cx="1783080" cy="3566160"/>
          </a:xfrm>
          <a:prstGeom prst="roundRect">
            <a:avLst>
              <a:gd fmla="val 5128" name="adj"/>
            </a:avLst>
          </a:prstGeom>
          <a:solidFill>
            <a:srgbClr val="2735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4498848" y="208483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Wk 6-8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4498848" y="2423160"/>
            <a:ext cx="15636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Lodging + Cost View P</a:t>
            </a: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498848" y="3291840"/>
            <a:ext cx="15636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Accommodation search, combined trip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18604" y="1517904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6309360" y="1920240"/>
            <a:ext cx="1783080" cy="3566160"/>
          </a:xfrm>
          <a:prstGeom prst="roundRect">
            <a:avLst>
              <a:gd fmla="val 5128" name="adj"/>
            </a:avLst>
          </a:prstGeom>
          <a:solidFill>
            <a:srgbClr val="2D3E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6419088" y="208483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Wk 9-11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6419088" y="2423160"/>
            <a:ext cx="1563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User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Accounts + Alerts/</a:t>
            </a: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Notifications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6419088" y="3291840"/>
            <a:ext cx="15636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Auth, saved searches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038844" y="1517904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8229600" y="1920240"/>
            <a:ext cx="1783080" cy="3566160"/>
          </a:xfrm>
          <a:prstGeom prst="roundRect">
            <a:avLst>
              <a:gd fmla="val 5128" name="adj"/>
            </a:avLst>
          </a:prstGeom>
          <a:solidFill>
            <a:srgbClr val="2735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8339328" y="208483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Wk 12-14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8339328" y="2423160"/>
            <a:ext cx="15636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Additional Features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+ Polish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8339328" y="3291840"/>
            <a:ext cx="15636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Group mode, UI refinement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0959084" y="151790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0149840" y="1920240"/>
            <a:ext cx="1783080" cy="3566160"/>
          </a:xfrm>
          <a:prstGeom prst="roundRect">
            <a:avLst>
              <a:gd fmla="val 5128" name="adj"/>
            </a:avLst>
          </a:prstGeom>
          <a:solidFill>
            <a:srgbClr val="2D3E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10259568" y="208483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Wk 15-16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259568" y="2423160"/>
            <a:ext cx="15636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Launch +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0259568" y="3291840"/>
            <a:ext cx="15636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Deploy, final testing,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